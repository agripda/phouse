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05840"/>
            <a:ext cx="1371600" cy="347472"/>
          </a:xfrm>
          <a:prstGeom prst="rect">
            <a:avLst/>
          </a:prstGeom>
          <a:solidFill>
            <a:srgbClr val="14A08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SDD v2.3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Submission API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E4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Day-Level Persistence · FastAPI · SQL Server · SQLite PoC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Bomyung Kim  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Powerhouse Museum Assessment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SDD Leave Submission API — Day-Level Persistence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841248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68680"/>
            <a:ext cx="8229600" cy="8412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</a:rPr>
              <a:t>Purpose  </a:t>
            </a:r>
            <a:pPr indent="0" marL="0">
              <a:buNone/>
            </a:pPr>
            <a:r>
              <a:rPr lang="en-US" sz="1150" dirty="0">
                <a:solidFill>
                  <a:srgbClr val="CAE4F5"/>
                </a:solidFill>
              </a:rPr>
              <a:t>Design and implement a REST API that accepts a worker leave submission payload (JSON) and persists data into SQL Server at day-by-day granularity. A SQLite PoC is provided for local development without infrastructure dependencies.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✅  Assessment Compliance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340864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POST endpoint, validation, Mon–Fri decomposition, SQL Server schema — all core requirements fully satisfied.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87452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87452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⚡  Production Readiness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2340864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Idempotency · Atomic transactions · Batch persistence · Index-backed queries · Full test coverage.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7432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874520"/>
            <a:ext cx="27432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947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🎁  Bonus Deliverables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340864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SQLite PoC · Streamlit UI (4 pages) · DQ Engine (5 domains, 16 rules) · Server-generated SubmissionId.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8595360" cy="548640"/>
          </a:xfrm>
          <a:prstGeom prst="rect">
            <a:avLst/>
          </a:prstGeom>
          <a:solidFill>
            <a:srgbClr val="CAE4F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977640"/>
            <a:ext cx="8412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Version 2.3  ·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2026-04-01  ·  Author: Bomyung Kim  ·  </a:t>
            </a:r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Key changes: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SCD type classification per table · Audit fields (CreatedDatetime / UpdatedDatetime) · SCD Type 2 evolution path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What is in — and out — of this solution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IN SCOPE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325880"/>
            <a:ext cx="3840480" cy="3154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POST /api/v1/leave-submissions — accept, validate, decompose, persist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GET /api/v1/leave-submissions/{id} — retrieve submission + day records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Mon–Fri working-day decomposition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SQL Server schema (LeaveSubmission, LeaveDay) + Stored Procedure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SQLite PoC with Streamlit UI  ⭐ bonus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DQ engine — 5 domains, 16 rules  ⭐ bonus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🚫  OUT OF 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325880"/>
            <a:ext cx="3840480" cy="3154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Leave approval workflow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Worker master data / HRIS integration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Public holiday calendar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Part-day / half-day leave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Authentication / authorisation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Reporting / analytics layer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RESTful API · Monolithic service (PoC) · Swappable DB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011680" cy="658368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9601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(curl / UI / API)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2011680" cy="658368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17830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Streamlit UI 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(app.py)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0280" y="1234440"/>
            <a:ext cx="5486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2057400"/>
            <a:ext cx="54864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0" y="822960"/>
            <a:ext cx="36576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822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  (main.py)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1298448"/>
            <a:ext cx="3383280" cy="566928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0" y="12984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E4F5"/>
                </a:solidFill>
              </a:rPr>
              <a:t>Pydantic v2 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1993392"/>
            <a:ext cx="3383280" cy="566928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199339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E4F5"/>
                </a:solidFill>
              </a:rPr>
              <a:t>business_logic.py · Day Decomposition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2688336"/>
            <a:ext cx="3383280" cy="566928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926080" y="268833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E4F5"/>
                </a:solidFill>
              </a:rPr>
              <a:t>dq_engine.py ⭐ · 5 domains, 16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26080" y="3383280"/>
            <a:ext cx="3383280" cy="566928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33832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E4F5"/>
                </a:solidFill>
              </a:rPr>
              <a:t>database.py / database_sqlite.py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4498848"/>
            <a:ext cx="73152" cy="2560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8920" y="4617720"/>
            <a:ext cx="1737360" cy="393192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88920" y="461772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 Server (Prod)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4617720"/>
            <a:ext cx="1737360" cy="39319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4617720"/>
            <a:ext cx="1737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SQLite PoC  (data/leave.db)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822960"/>
            <a:ext cx="22402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75120" y="822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4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1188720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API Framework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FastAPI (Python)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66560" y="1591056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Validation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Pydantic v2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66560" y="1993392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Business Logic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Pure Python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66560" y="2395728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DB — Prod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SQL Server + pyodbc + SP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2798064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DB — PoC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SQLite (stdlib)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200400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UI ⭐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Streamlit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0" y="3602736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Testing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Pytest + TestClient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66560" y="4005072"/>
            <a:ext cx="2057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Runtime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Uvicorn (ASGI)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Endpoints · Request / Response · HTTP Status Codes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8595360" cy="3474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 Path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                                            Description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8595360" cy="457200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188720"/>
            <a:ext cx="6858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1887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/api/v1/leave-submissions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Submit a leave request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85953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645920"/>
            <a:ext cx="685800" cy="4572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459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/api/v1/leave-submissions/{id}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Retrieve submission + day records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103120"/>
            <a:ext cx="685800" cy="4572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103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Liveness 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624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POST Status Codes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926080"/>
            <a:ext cx="5029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Success — submission created + all day rows written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4114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291840"/>
            <a:ext cx="5029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291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400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Business rule violation (working-day mismatch, UNQ-001)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411480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3657600"/>
            <a:ext cx="5029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657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409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" y="3657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Duplicate — submissionId already exists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23360"/>
            <a:ext cx="4114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4023360"/>
            <a:ext cx="5029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0233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422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2960" y="40233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Validation failure — missing fields / startDate &gt; endDate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389120"/>
            <a:ext cx="411480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4389120"/>
            <a:ext cx="5029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38912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" y="4389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DB failure — transaction rolled back, no partial data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63440" y="2624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GET Status Codes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2926080"/>
            <a:ext cx="411480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2926080"/>
            <a:ext cx="5029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1208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Submission found — returns header + day records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291840"/>
            <a:ext cx="4114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4663440" y="3291840"/>
            <a:ext cx="5029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0" y="32918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404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12080" y="3291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submissionId not found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Processing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8-step pipeline from JSON payload to HTTP 201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68680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6868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923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Parse &amp; Validate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12161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Pydantic v2 — required fields, types.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13048" y="923544"/>
            <a:ext cx="47548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923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422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892808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892808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1892808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Date Order 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224028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startDate ≤ endDate asserted.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13048" y="1947672"/>
            <a:ext cx="47548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813048" y="194767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422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16936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16936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916936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SubmissionId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326440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Caller-supplied: dup check → 409. Omitted: server generates LS-YYYY-NNNNNN.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13048" y="2971800"/>
            <a:ext cx="475488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813048" y="297180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941064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3941064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" y="3941064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Alignment Check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4088" y="42885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Actual Mon–Fri count = totalWorkingDays AND quantity sum.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13048" y="3995928"/>
            <a:ext cx="475488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3813048" y="39959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868680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868680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868680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84648" y="923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DQ Engine 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84648" y="121615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16 rules / 5 domains. UNQ-001 overlap → 400. Others: soft warnings.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293608" y="923544"/>
            <a:ext cx="475488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8293608" y="923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1892808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1892808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4" name="Text 42"/>
          <p:cNvSpPr/>
          <p:nvPr/>
        </p:nvSpPr>
        <p:spPr>
          <a:xfrm>
            <a:off x="4709160" y="1892808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8464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Day Decomposition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184648" y="224028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Expands period → one LeaveDayRecord per Mon–Fri at Qty=1.00.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2916936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2916936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9" name="Text 47"/>
          <p:cNvSpPr/>
          <p:nvPr/>
        </p:nvSpPr>
        <p:spPr>
          <a:xfrm>
            <a:off x="4709160" y="2916936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8464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Atomic DB Write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184648" y="326440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Header + day rows in single transaction. Rolled back on any error.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293608" y="2971800"/>
            <a:ext cx="475488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8293608" y="297180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3941064"/>
            <a:ext cx="411480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941064"/>
            <a:ext cx="411480" cy="8961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56" name="Text 54"/>
          <p:cNvSpPr/>
          <p:nvPr/>
        </p:nvSpPr>
        <p:spPr>
          <a:xfrm>
            <a:off x="4709160" y="3941064"/>
            <a:ext cx="411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A085"/>
                </a:solidFill>
              </a:rPr>
              <a:t>8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184648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201 Response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184648" y="42885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Returns submissionId, totalWorkingDaysCreated, leaveDays, dq_issues.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93608" y="3995928"/>
            <a:ext cx="475488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0" name="Text 58"/>
          <p:cNvSpPr/>
          <p:nvPr/>
        </p:nvSpPr>
        <p:spPr>
          <a:xfrm>
            <a:off x="8293608" y="399592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Inmon 3NF header–detail · Kimball denormalisation on LeaveDay · SCD classifications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2834640" cy="3474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dbo.LeaveSubmission  —  SCD Type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88720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SubmissionId PK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VARCHAR(50)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WorkerId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VARCHAR(50)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883664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83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StartDatetime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2311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EndDatetime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TotalDays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Status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VARCHAR(20)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3273552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273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SubmittedDate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621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CreatedDatetime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968496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968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</a:rPr>
              <a:t>UpdatedDatetime</a:t>
            </a:r>
            <a:pPr indent="0" marL="0">
              <a:buNone/>
            </a:pPr>
            <a:r>
              <a:rPr lang="en-US" sz="8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841248"/>
            <a:ext cx="2834640" cy="34747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8412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dbo.LeaveDay  —  Fact 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118872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188720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LeaveDayId PK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IDENTITY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SubmissionId FK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VARCHAR(50)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1883664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1883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WorkerId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VARCHAR(50)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37560" y="22311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LeaveDate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2578608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LeaveTypeCode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VARCHAR(10)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LeaveCategory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VARCHAR(20)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46120" y="3273552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32735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UnitOfMeasure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VARCHAR(10)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36210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Quantity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DECIMAL(5,2)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3968496"/>
            <a:ext cx="2834640" cy="347472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3968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7377"/>
                </a:solidFill>
              </a:rPr>
              <a:t>CreatedDatetime</a:t>
            </a:r>
            <a:pPr indent="0" marL="0">
              <a:buNone/>
            </a:pPr>
            <a:r>
              <a:rPr lang="en-US" sz="8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63640" y="841248"/>
            <a:ext cx="26517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841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044"/>
                </a:solidFill>
              </a:rPr>
              <a:t>dbo.DQResult  ⭐  Append-Only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1188720"/>
            <a:ext cx="2651760" cy="2852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1188720"/>
            <a:ext cx="2651760" cy="347472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1188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DQResultId PK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IDENTITY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5508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SubmissionId FK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VARCHAR(50)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1883664"/>
            <a:ext cx="2651760" cy="347472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1883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CheckedAt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55080" y="2231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Domain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VARCHAR(20)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63640" y="2578608"/>
            <a:ext cx="2651760" cy="347472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2578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Severity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VARCHAR(10)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5508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Code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VARCHAR(10)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63640" y="3273552"/>
            <a:ext cx="2651760" cy="347472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Field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VARCHAR(100)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36210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</a:rPr>
              <a:t>Message</a:t>
            </a:r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46120" y="45262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D7377"/>
                </a:solidFill>
              </a:rPr>
              <a:t>1 : N  decomposes into  ➜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63640" y="45262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1 : N  DQ warnings  ➜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28600" y="4572000"/>
            <a:ext cx="86868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320040" y="45720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Indexes: IX_LeaveSubmission_WorkerId  ·  UQ(SubmissionId, LeaveDate, LeaveTypeCode)  ·  IX_LeaveDay_SubmissionId  ·  IX_LeaveDay_WorkerId_Date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Engine 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domains · 16 rules · Severity-based routing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1627632" cy="100584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8600" y="11704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ACC-001→006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444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E4F5"/>
                </a:solidFill>
              </a:rPr>
              <a:t>Pattern &amp; enum validation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65960" y="841248"/>
            <a:ext cx="1627632" cy="100584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Completeness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1704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CMP-001→003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1444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E4F5"/>
                </a:solidFill>
              </a:rPr>
              <a:t>Required fields per status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03320" y="841248"/>
            <a:ext cx="1627632" cy="1005840"/>
          </a:xfrm>
          <a:prstGeom prst="rect">
            <a:avLst/>
          </a:prstGeom>
          <a:solidFill>
            <a:srgbClr val="14A08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Consistency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03320" y="11704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CON-001→003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03320" y="1444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E4F5"/>
                </a:solidFill>
              </a:rPr>
              <a:t>Cross-field alignment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40680" y="841248"/>
            <a:ext cx="1627632" cy="1005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Timeliness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11704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TML-001→003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1444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E4F5"/>
                </a:solidFill>
              </a:rPr>
              <a:t>Date range plausibility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78040" y="841248"/>
            <a:ext cx="1627632" cy="10058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84124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Uniqueness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78040" y="11704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E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UNQ-001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14447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E4F5"/>
                </a:solidFill>
              </a:rPr>
              <a:t>Overlap detection — CRITICAL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1993392"/>
            <a:ext cx="86868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8872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Domain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28600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Severity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4612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Field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19933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2313432"/>
            <a:ext cx="8686800" cy="329184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34" name="Shape 32"/>
          <p:cNvSpPr/>
          <p:nvPr/>
        </p:nvSpPr>
        <p:spPr>
          <a:xfrm>
            <a:off x="228600" y="2313432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231343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ACC-001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88720" y="23134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Accuracy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286000" y="231343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46120" y="23134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worker.workerId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2313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Must match W###### pattern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2642616"/>
            <a:ext cx="8686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228600" y="2642616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264261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ACC-003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88720" y="264261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Accuracy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286000" y="264261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46120" y="264261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leaveDetails[*].leaveTypeCode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0" y="26426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Must be AL/SL/CL/UL/PL/LWP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2971800"/>
            <a:ext cx="8686800" cy="329184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48" name="Shape 46"/>
          <p:cNvSpPr/>
          <p:nvPr/>
        </p:nvSpPr>
        <p:spPr>
          <a:xfrm>
            <a:off x="228600" y="2971800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29718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CMP-001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88720" y="297180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Completeness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286000" y="29718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46120" y="29718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approver.approverId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9718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Required for non-Draft submissions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28600" y="3300984"/>
            <a:ext cx="8686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228600" y="3300984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330098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CON-001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188720" y="330098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Consistency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286000" y="330098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246120" y="33009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leavePeriod.totalWeeks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486400" y="330098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Within ±1 of calculated weeks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28600" y="3630168"/>
            <a:ext cx="8686800" cy="329184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62" name="Shape 60"/>
          <p:cNvSpPr/>
          <p:nvPr/>
        </p:nvSpPr>
        <p:spPr>
          <a:xfrm>
            <a:off x="228600" y="3630168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320040" y="363016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CON-002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188720" y="36301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Consistency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286000" y="36301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46120" y="36301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leaveDetails[*].quantity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86400" y="36301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Sum (Days UOM) = totalWorkingDays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28600" y="3959352"/>
            <a:ext cx="86868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228600" y="3959352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320040" y="3959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TML-001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188720" y="395935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Timeliness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286000" y="395935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246120" y="395935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leavePeriod.startDate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486400" y="39593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startDate not &gt; 30 days in the past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28600" y="4288536"/>
            <a:ext cx="8686800" cy="329184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76" name="Shape 74"/>
          <p:cNvSpPr/>
          <p:nvPr/>
        </p:nvSpPr>
        <p:spPr>
          <a:xfrm>
            <a:off x="228600" y="4288536"/>
            <a:ext cx="64008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320040" y="428853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TML-002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188720" y="428853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Timeliness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2286000" y="428853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</a:rPr>
              <a:t>Warning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246120" y="428853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leavePeriod.startDate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486400" y="42885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startDate not &gt; 365 days in the future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3" name="Shape 81"/>
          <p:cNvSpPr/>
          <p:nvPr/>
        </p:nvSpPr>
        <p:spPr>
          <a:xfrm>
            <a:off x="228600" y="4617720"/>
            <a:ext cx="64008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4" name="Text 82"/>
          <p:cNvSpPr/>
          <p:nvPr/>
        </p:nvSpPr>
        <p:spPr>
          <a:xfrm>
            <a:off x="320040" y="461772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UNQ-001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188720" y="461772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Uniqueness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286000" y="46177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CRITICAL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246120" y="46177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leavePeriod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486400" y="46177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Overlapping dates same workerId → HTTP 400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228600" y="4956048"/>
            <a:ext cx="8686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+ 8 more rules (ACC-002, ACC-004, ACC-005, ACC-006, CMP-002, CMP-003, CON-003, TML-003)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Deployment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 test suite · PoC local · Production Kubernetes / App Service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4114800" cy="3200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841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Testing Strategy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161288"/>
            <a:ext cx="4114800" cy="2852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61288"/>
            <a:ext cx="4114800" cy="475488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18872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Unit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business_logic.py
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Pure Python, no DB — generate_submission_id, working_days_in_range, alignment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1664208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</a:rPr>
              <a:t>Unit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dq_engine.py
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All 16 rules — injected existing_dates_fn mock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112264"/>
            <a:ext cx="4114800" cy="475488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139696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Integration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POST endpoint
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201 / 400 / 409 / 422 — in-memory SQLite, monkeypatched get_connection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615184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Integration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GET endpoint
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200 / 404 — server-generated ID from POST response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4114800" cy="475488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090672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044"/>
                </a:solidFill>
              </a:rPr>
              <a:t>Integration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UNQ-001
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Submit same dates twice; second must return 400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566160"/>
            <a:ext cx="3895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Manual  </a:t>
            </a:r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Streamlit UI
</a:t>
            </a:r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Submit, Balance, Browse DB, DQ Dashboard — verified against SQLite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841248"/>
            <a:ext cx="434340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8412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 — Environment Promotion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161288"/>
            <a:ext cx="43434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161288"/>
            <a:ext cx="594360" cy="530352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116128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0368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SQLite (PoC)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0368" y="1417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Local dev — no infrastructure required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709928"/>
            <a:ext cx="43434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709928"/>
            <a:ext cx="594360" cy="53035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170992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30368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SQL Server (shared)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19659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Integration testing with HRIS stubs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258568"/>
            <a:ext cx="43434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258568"/>
            <a:ext cx="594360" cy="53035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225856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UAT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30368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SQL Server (isolated)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0368" y="25146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Business acceptance testing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2807208"/>
            <a:ext cx="43434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807208"/>
            <a:ext cx="594360" cy="5303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280720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30368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SQL Server (HA)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30368" y="3063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Always-on availability group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3383280"/>
            <a:ext cx="43434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33832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CI/CD Pipeline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3675888"/>
            <a:ext cx="434340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81728" y="3703320"/>
            <a:ext cx="4114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Build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
</a:t>
            </a:r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Test   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-v  (in-memory SQLite, no DB)
</a:t>
            </a:r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Deploy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 → registry → rolling deploy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Risks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Planned evolution · Key risks mitigated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5029200" cy="292608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841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Future Enhancements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133856"/>
            <a:ext cx="502920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33856"/>
            <a:ext cx="5029200" cy="457200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1521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Public Holidays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Integrate holidays Python library into _is_working_day()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16093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Part-Day Leave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Extend decomposition for fractional quantities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048256"/>
            <a:ext cx="5029200" cy="457200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0665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Authentication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OAuth2 / JWT bearer token via FastAPI middleware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5237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SCD Type 2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Add SubmissionSK, EffectiveStartDate, IsCurrent for LeaveSubmission history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62656"/>
            <a:ext cx="5029200" cy="457200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9809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Power BI Layer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Gold-layer view vw_LeaveDay_Gold as Star Schema — direct Power BI connection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4381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Approval Workflow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Event-driven approval via message queue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877056"/>
            <a:ext cx="5029200" cy="457200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8953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HRIS Integration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Live validation against HRIS worker API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4352544"/>
            <a:ext cx="4809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Worker Dimension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Add dbo.Worker reference table + referential integrity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841248"/>
            <a:ext cx="342900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841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Risks &amp; Mitigations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1133856"/>
            <a:ext cx="3429000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559552" y="11338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33488" y="1133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99248" y="1133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65008" y="1133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Mitigation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1426464"/>
            <a:ext cx="3429000" cy="566928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30" name="Text 28"/>
          <p:cNvSpPr/>
          <p:nvPr/>
        </p:nvSpPr>
        <p:spPr>
          <a:xfrm>
            <a:off x="5559552" y="144475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Incorrect day count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59552" y="17190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Unit tests + alignment check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33488" y="1463040"/>
            <a:ext cx="310896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333488" y="14630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699248" y="1463040"/>
            <a:ext cx="310896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7699248" y="146304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486400" y="1993392"/>
            <a:ext cx="34290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559552" y="20116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Duplicate submission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59552" y="22860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exists() + UQ constraint + SP THROW 50409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33488" y="2029968"/>
            <a:ext cx="310896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333488" y="20299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699248" y="2029968"/>
            <a:ext cx="310896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699248" y="20299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486400" y="2560320"/>
            <a:ext cx="3429000" cy="566928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44" name="Text 42"/>
          <p:cNvSpPr/>
          <p:nvPr/>
        </p:nvSpPr>
        <p:spPr>
          <a:xfrm>
            <a:off x="5559552" y="25786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Overlap dates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59552" y="28529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UNQ-001 Critical DQ rule — hard reject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333488" y="2596896"/>
            <a:ext cx="310896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7333488" y="259689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699248" y="2596896"/>
            <a:ext cx="310896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7699248" y="259689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486400" y="3127248"/>
            <a:ext cx="34290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559552" y="31455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Partial DB write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59552" y="34198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XACT_ABORT ON / rollback() — atomic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333488" y="3163824"/>
            <a:ext cx="310896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7333488" y="31638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699248" y="3163824"/>
            <a:ext cx="310896" cy="2377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6" name="Text 54"/>
          <p:cNvSpPr/>
          <p:nvPr/>
        </p:nvSpPr>
        <p:spPr>
          <a:xfrm>
            <a:off x="7699248" y="316382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486400" y="3694176"/>
            <a:ext cx="3429000" cy="566928"/>
          </a:xfrm>
          <a:prstGeom prst="rect">
            <a:avLst/>
          </a:prstGeom>
          <a:solidFill>
            <a:srgbClr val="CAE4F5"/>
          </a:solidFill>
          <a:ln/>
        </p:spPr>
      </p:sp>
      <p:sp>
        <p:nvSpPr>
          <p:cNvPr id="58" name="Text 56"/>
          <p:cNvSpPr/>
          <p:nvPr/>
        </p:nvSpPr>
        <p:spPr>
          <a:xfrm>
            <a:off x="5559552" y="37124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044"/>
                </a:solidFill>
              </a:rPr>
              <a:t>Concurrent SubmissionId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59552" y="39867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UPDLOCK/HOLDLOCK in SP; UI retry on 409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33488" y="3730752"/>
            <a:ext cx="310896" cy="2377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59"/>
          <p:cNvSpPr/>
          <p:nvPr/>
        </p:nvSpPr>
        <p:spPr>
          <a:xfrm>
            <a:off x="7333488" y="37307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699248" y="3730752"/>
            <a:ext cx="310896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7699248" y="37307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4F5"/>
                </a:solidFill>
              </a:rPr>
              <a:t>Core assessment: POST + GET endpoints, Pydantic v2 validation, Mon–Fri decomposition, SQL Server schema with SP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841248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756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4F5"/>
                </a:solidFill>
              </a:rPr>
              <a:t>Production readiness: idempotency (409), atomic transactions, batch executemany, index-backed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34056"/>
            <a:ext cx="841248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73405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3405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4F5"/>
                </a:solidFill>
              </a:rPr>
              <a:t>Bonus: SQLite PoC · Streamlit 4-page UI · DQ Engine (5 domains, 16 rules, UNQ-001 hard reject)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841248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9242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39242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4F5"/>
                </a:solidFill>
              </a:rPr>
              <a:t>Bonus: Server-generated SubmissionId · Overlap detection · Structured logging (BDAXAI pattern)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50792"/>
            <a:ext cx="841248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507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🔭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05079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E4F5"/>
                </a:solidFill>
              </a:rPr>
              <a:t>Future: SCD Type 2, public holidays, OAuth2, Power BI Gold layer, HRIS live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Leave Submission API — SDD v2.3  ·  Bomyung Kim  ·  2026-04-01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 Submission API — SDD v2.3</dc:title>
  <dc:subject>PptxGenJS Presentation</dc:subject>
  <dc:creator>PptxGenJS</dc:creator>
  <cp:lastModifiedBy>PptxGenJS</cp:lastModifiedBy>
  <cp:revision>1</cp:revision>
  <dcterms:created xsi:type="dcterms:W3CDTF">2026-04-07T09:31:51Z</dcterms:created>
  <dcterms:modified xsi:type="dcterms:W3CDTF">2026-04-07T09:31:51Z</dcterms:modified>
</cp:coreProperties>
</file>