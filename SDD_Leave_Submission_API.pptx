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28016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Design Document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Submission API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40" y="278892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Day-Level Persistence | SQLite PoC | DQ Engine | Streamlit UI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3291840"/>
            <a:ext cx="1371600" cy="2743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3291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1.5  |  2026-03-27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801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OVERVIEW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system does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80160"/>
            <a:ext cx="64008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533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Accepts leave submissions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6420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(POST) receives a JSON payload with worker, period, and leave details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128016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280160"/>
            <a:ext cx="64008" cy="109728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3533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Validates rigorously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66420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structural checks + date order + working-day alignment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251460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514600"/>
            <a:ext cx="64008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25877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SubmissionId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289864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 atomically generates LS-YYYY-NNNNNN inside the DB transaction — race-condition safe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0" y="251460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2514600"/>
            <a:ext cx="64008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258775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Decomposes to days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289864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Expands the leave period into individual Mon–Fri working day rows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457200" y="374904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57200" y="3749040"/>
            <a:ext cx="64008" cy="10972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94360" y="38221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DQ checks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94360" y="413308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5-domain DQ engine (16 rules) — all soft warnings, submission never blocked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00600" y="3749040"/>
            <a:ext cx="4114800" cy="1097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800600" y="3749040"/>
            <a:ext cx="64008" cy="109728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8221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Persists atomically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937760" y="4133088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LeaveSubmission header + LeaveDay rows + DQResult issues in one transaction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801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ARCHITECTURE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188720"/>
          <a:ext cx="6858000" cy="3474720"/>
        </p:xfrm>
        <a:graphic>
          <a:graphicData uri="http://schemas.openxmlformats.org/drawingml/2006/table">
            <a:tbl>
              <a:tblPr/>
              <a:tblGrid>
                <a:gridCol w="2286000"/>
                <a:gridCol w="4572000"/>
              </a:tblGrid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Layer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Technology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1E2761"/>
                          </a:solidFill>
                        </a:rPr>
                        <a:t>API Framework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478"/>
                          </a:solidFill>
                        </a:rPr>
                        <a:t>FastAPI (Python)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</a:rPr>
                        <a:t>Validation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478"/>
                          </a:solidFill>
                        </a:rPr>
                        <a:t>Pydantic v2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E67E22"/>
                          </a:solidFill>
                        </a:rPr>
                        <a:t>Database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478"/>
                          </a:solidFill>
                        </a:rPr>
                        <a:t>SQL Server (pyodbc) · SQLite PoC (sqlite3)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27AE60"/>
                          </a:solidFill>
                        </a:rPr>
                        <a:t>DQ Engine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478"/>
                          </a:solidFill>
                        </a:rPr>
                        <a:t>Pure-Python dq_engine.py — 5 domains, 16 rules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E44AD"/>
                          </a:solidFill>
                        </a:rPr>
                        <a:t>UI (PoC)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478"/>
                          </a:solidFill>
                        </a:rPr>
                        <a:t>Streamlit — 4 pages incl. DQ Dashboard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8492A6"/>
                          </a:solidFill>
                        </a:rPr>
                        <a:t>Testing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478"/>
                          </a:solidFill>
                        </a:rPr>
                        <a:t>Pytest + FastAPI TestClient (in-memory SQLite)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2976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5A6478"/>
                          </a:solidFill>
                        </a:rPr>
                        <a:t>Runtime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5A6478"/>
                          </a:solidFill>
                        </a:rPr>
                        <a:t>Uvicorn (ASGI)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801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DATA MODELING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Inmon 3NF + Kimball influence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39319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39319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Inmon 3NF  (primary pattern)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94360" y="1664208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Header–detail structure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LeaveSubmission  →  LeaveDay  (parent–child via FK)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meaningful grain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Mon–Fri working day per leave type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source of truth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SubmissionId is spec-defined PK, server-generated atomically as LS-YYYY-NNNNNN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63440" y="1234440"/>
            <a:ext cx="3931920" cy="347472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663440" y="1234440"/>
            <a:ext cx="39319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23444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Kimball influence  (deliberate denorm.)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754880" y="1664208"/>
            <a:ext cx="374904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WorkerId on LeaveDay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Denormalised for fast calendar queries — avoids JOIN to LeaveSubmission for worker+date lookups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LeaveDay as Fact table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Grain = one working day per leave type per submission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950" dirty="0"/>
          </a:p>
          <a:p>
            <a:pPr indent="0" marL="0">
              <a:buNone/>
            </a:pPr>
            <a:r>
              <a:rPr lang="en-US" sz="95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DimWorker / DimLeaveType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Dimensions owned by HRIS — out of scope for this API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801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API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request flow — 7 steps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587137" y="2148840"/>
            <a:ext cx="109728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298448"/>
            <a:ext cx="1065929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298448"/>
            <a:ext cx="10659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457200" y="1938528"/>
            <a:ext cx="1065929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938528"/>
            <a:ext cx="1065929" cy="182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3776" y="1984248"/>
            <a:ext cx="99277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Parse &amp; validate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493776" y="2359152"/>
            <a:ext cx="992777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v2 checks all required fields, types, and date order (422 on fail)</a:t>
            </a:r>
            <a:endParaRPr lang="en-US" sz="750" dirty="0"/>
          </a:p>
        </p:txBody>
      </p:sp>
      <p:sp>
        <p:nvSpPr>
          <p:cNvPr id="12" name="Shape 10"/>
          <p:cNvSpPr/>
          <p:nvPr/>
        </p:nvSpPr>
        <p:spPr>
          <a:xfrm>
            <a:off x="2762794" y="2148840"/>
            <a:ext cx="109728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632857" y="1298448"/>
            <a:ext cx="1065929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32857" y="1298448"/>
            <a:ext cx="10659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</a:t>
            </a:r>
            <a:endParaRPr lang="en-US" sz="2200" dirty="0"/>
          </a:p>
        </p:txBody>
      </p:sp>
      <p:sp>
        <p:nvSpPr>
          <p:cNvPr id="15" name="Shape 13"/>
          <p:cNvSpPr/>
          <p:nvPr/>
        </p:nvSpPr>
        <p:spPr>
          <a:xfrm>
            <a:off x="1632857" y="1938528"/>
            <a:ext cx="1065929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1632857" y="1938528"/>
            <a:ext cx="1065929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9433" y="1984248"/>
            <a:ext cx="99277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Alignment check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1669433" y="2359152"/>
            <a:ext cx="992777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Counts actual Mon–Fri days — must match totalWorkingDays and quantity sum (400 on fail)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938451" y="2148840"/>
            <a:ext cx="109728" cy="2286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808514" y="1298448"/>
            <a:ext cx="1065929" cy="56692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808514" y="1298448"/>
            <a:ext cx="10659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</a:t>
            </a:r>
            <a:endParaRPr lang="en-US" sz="2200" dirty="0"/>
          </a:p>
        </p:txBody>
      </p:sp>
      <p:sp>
        <p:nvSpPr>
          <p:cNvPr id="22" name="Shape 20"/>
          <p:cNvSpPr/>
          <p:nvPr/>
        </p:nvSpPr>
        <p:spPr>
          <a:xfrm>
            <a:off x="2808514" y="1938528"/>
            <a:ext cx="1065929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2808514" y="1938528"/>
            <a:ext cx="1065929" cy="1828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45090" y="1984248"/>
            <a:ext cx="99277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checks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2845090" y="2359152"/>
            <a:ext cx="992777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5-domain engine runs 16 soft-warning rules — never rejects, always records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5114109" y="2148840"/>
            <a:ext cx="109728" cy="2286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984171" y="1298448"/>
            <a:ext cx="1065929" cy="5669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984171" y="1298448"/>
            <a:ext cx="10659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</a:t>
            </a:r>
            <a:endParaRPr lang="en-US" sz="2200" dirty="0"/>
          </a:p>
        </p:txBody>
      </p:sp>
      <p:sp>
        <p:nvSpPr>
          <p:cNvPr id="29" name="Shape 27"/>
          <p:cNvSpPr/>
          <p:nvPr/>
        </p:nvSpPr>
        <p:spPr>
          <a:xfrm>
            <a:off x="3984171" y="1938528"/>
            <a:ext cx="1065929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984171" y="1938528"/>
            <a:ext cx="1065929" cy="182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020747" y="1984248"/>
            <a:ext cx="99277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decomposition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4020747" y="2359152"/>
            <a:ext cx="992777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Iterates calendar, emits one LeaveDayRecord per Mon–Fri day at Quantity = 1.00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6289766" y="2148840"/>
            <a:ext cx="109728" cy="22860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159829" y="1298448"/>
            <a:ext cx="1065929" cy="56692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159829" y="1298448"/>
            <a:ext cx="10659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</a:t>
            </a:r>
            <a:endParaRPr lang="en-US" sz="2200" dirty="0"/>
          </a:p>
        </p:txBody>
      </p:sp>
      <p:sp>
        <p:nvSpPr>
          <p:cNvPr id="36" name="Shape 34"/>
          <p:cNvSpPr/>
          <p:nvPr/>
        </p:nvSpPr>
        <p:spPr>
          <a:xfrm>
            <a:off x="5159829" y="1938528"/>
            <a:ext cx="1065929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159829" y="1938528"/>
            <a:ext cx="1065929" cy="18288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96405" y="1984248"/>
            <a:ext cx="99277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Atomic DB write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5196405" y="2359152"/>
            <a:ext cx="992777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MAX(seq)+1 → INSERT LeaveSubmission → executemany LeaveDay — single transaction</a:t>
            </a:r>
            <a:endParaRPr lang="en-US" sz="750" dirty="0"/>
          </a:p>
        </p:txBody>
      </p:sp>
      <p:sp>
        <p:nvSpPr>
          <p:cNvPr id="40" name="Shape 38"/>
          <p:cNvSpPr/>
          <p:nvPr/>
        </p:nvSpPr>
        <p:spPr>
          <a:xfrm>
            <a:off x="7465423" y="2148840"/>
            <a:ext cx="109728" cy="2286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335486" y="1298448"/>
            <a:ext cx="1065929" cy="56692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335486" y="1298448"/>
            <a:ext cx="10659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6</a:t>
            </a:r>
            <a:endParaRPr lang="en-US" sz="2200" dirty="0"/>
          </a:p>
        </p:txBody>
      </p:sp>
      <p:sp>
        <p:nvSpPr>
          <p:cNvPr id="43" name="Shape 41"/>
          <p:cNvSpPr/>
          <p:nvPr/>
        </p:nvSpPr>
        <p:spPr>
          <a:xfrm>
            <a:off x="6335486" y="1938528"/>
            <a:ext cx="1065929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335486" y="1938528"/>
            <a:ext cx="1065929" cy="1828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372062" y="1984248"/>
            <a:ext cx="99277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 DQ issues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6372062" y="2359152"/>
            <a:ext cx="992777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DQ warnings written to DQResult table linked to final SubmissionId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7511143" y="1298448"/>
            <a:ext cx="1065929" cy="5669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511143" y="1298448"/>
            <a:ext cx="1065929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7</a:t>
            </a:r>
            <a:endParaRPr lang="en-US" sz="2200" dirty="0"/>
          </a:p>
        </p:txBody>
      </p:sp>
      <p:sp>
        <p:nvSpPr>
          <p:cNvPr id="49" name="Shape 47"/>
          <p:cNvSpPr/>
          <p:nvPr/>
        </p:nvSpPr>
        <p:spPr>
          <a:xfrm>
            <a:off x="7511143" y="1938528"/>
            <a:ext cx="1065929" cy="2834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7511143" y="1938528"/>
            <a:ext cx="1065929" cy="1828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547719" y="1984248"/>
            <a:ext cx="992777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 Created</a:t>
            </a:r>
            <a:endParaRPr lang="en-US" sz="850" dirty="0"/>
          </a:p>
        </p:txBody>
      </p:sp>
      <p:sp>
        <p:nvSpPr>
          <p:cNvPr id="52" name="Text 50"/>
          <p:cNvSpPr/>
          <p:nvPr/>
        </p:nvSpPr>
        <p:spPr>
          <a:xfrm>
            <a:off x="7547719" y="2359152"/>
            <a:ext cx="992777" cy="2331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 submissionId (e.g. LS-2026-000007), leaveDays array, and dq_issues array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801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DB SCHEMA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tables — header, detail, DQ results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2834640" cy="3200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30352" y="1234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LeaveSubmission</a:t>
            </a:r>
            <a:endParaRPr lang="en-US" sz="95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2834640" cy="914400"/>
        </p:xfrm>
        <a:graphic>
          <a:graphicData uri="http://schemas.openxmlformats.org/drawingml/2006/table">
            <a:tbl>
              <a:tblPr/>
              <a:tblGrid>
                <a:gridCol w="963778"/>
                <a:gridCol w="708660"/>
                <a:gridCol w="116220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4B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4B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4B6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</a:rPr>
                        <a:t>SubmissionId  PK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VARCHAR(50)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</a:rPr>
                        <a:t>Server-gen LS-YYYY-NNNNNN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</a:rPr>
                        <a:t>WorkerId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VARCHAR(50)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</a:rPr>
                        <a:t>HRIS external reference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</a:rPr>
                        <a:t>StartDatetime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DATETIME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</a:rPr>
                        <a:t>ISO-8601 incl. time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</a:rPr>
                        <a:t>EndDatetime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DATETIME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</a:rPr>
                        <a:t>23:59:59.99 end-of-day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</a:rPr>
                        <a:t>TotalDays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</a:rPr>
                        <a:t>Validated working-day count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</a:rPr>
                        <a:t>Status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VARCHAR(20)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</a:rPr>
                        <a:t>Submitted / Approved / Rejected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</a:rPr>
                        <a:t>SubmittedDate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</a:rPr>
                        <a:t>Date only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3474720" y="1234440"/>
            <a:ext cx="2834640" cy="3200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547872" y="123444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LeaveDay</a:t>
            </a:r>
            <a:endParaRPr lang="en-US" sz="95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474720" y="1554480"/>
          <a:ext cx="2834640" cy="914400"/>
        </p:xfrm>
        <a:graphic>
          <a:graphicData uri="http://schemas.openxmlformats.org/drawingml/2006/table">
            <a:tbl>
              <a:tblPr/>
              <a:tblGrid>
                <a:gridCol w="963778"/>
                <a:gridCol w="708660"/>
                <a:gridCol w="116220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4B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4B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4B6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028090"/>
                          </a:solidFill>
                        </a:rPr>
                        <a:t>LeaveDayId  PK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 IDENTITY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</a:rPr>
                        <a:t>Surrogate auto-increment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</a:rPr>
                        <a:t>SubmissionId  FK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VARCHAR(50)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</a:rPr>
                        <a:t>→ LeaveSubmission.SubmissionId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</a:rPr>
                        <a:t>WorkerId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VARCHAR(50)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</a:rPr>
                        <a:t>Denormalised (Kimball)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</a:rPr>
                        <a:t>LeaveDate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</a:rPr>
                        <a:t>One Mon–Fri day per row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</a:rPr>
                        <a:t>LeaveTypeCode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VARCHAR(10)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</a:rPr>
                        <a:t>AL / SL / CL …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</a:rPr>
                        <a:t>LeaveCategory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VARCHAR(20)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</a:rPr>
                        <a:t>Paid / Unpaid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</a:rPr>
                        <a:t>UnitOfMeasure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VARCHAR(10)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</a:rPr>
                        <a:t>Days / Hours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</a:rPr>
                        <a:t>Quantity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DECIMAL(5,2)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</a:rPr>
                        <a:t>Always 1.00 per row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492240" y="1234440"/>
            <a:ext cx="2651760" cy="3200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565392" y="12344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DQResult</a:t>
            </a:r>
            <a:endParaRPr lang="en-US" sz="950" dirty="0"/>
          </a:p>
        </p:txBody>
      </p:sp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92240" y="1554480"/>
          <a:ext cx="2651760" cy="914400"/>
        </p:xfrm>
        <a:graphic>
          <a:graphicData uri="http://schemas.openxmlformats.org/drawingml/2006/table">
            <a:tbl>
              <a:tblPr/>
              <a:tblGrid>
                <a:gridCol w="901598"/>
                <a:gridCol w="662940"/>
                <a:gridCol w="1087222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Column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4B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4B6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4B6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67E22"/>
                          </a:solidFill>
                        </a:rPr>
                        <a:t>DQResultId  PK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INT IDENTITY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</a:rPr>
                        <a:t>Surrogate auto-increment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E2761"/>
                          </a:solidFill>
                        </a:rPr>
                        <a:t>SubmissionId  FK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VARCHAR(50)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</a:rPr>
                        <a:t>→ LeaveSubmission.SubmissionId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</a:rPr>
                        <a:t>CheckedAt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DATETIME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</a:rPr>
                        <a:t>ISO-8601 timestamp of check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</a:rPr>
                        <a:t>Domain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VARCHAR(20)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</a:rPr>
                        <a:t>Accuracy / Completeness …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</a:rPr>
                        <a:t>Severity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VARCHAR(10)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</a:rPr>
                        <a:t>Critical / Warning (all soft)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</a:rPr>
                        <a:t>Code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VARCHAR(10)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</a:rPr>
                        <a:t>e.g. ACC-001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</a:rPr>
                        <a:t>Field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VARCHAR(100)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</a:rPr>
                        <a:t>Affected payload field path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</a:rPr>
                        <a:t>Message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02809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TEXT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</a:rPr>
                        <a:t>Human-readable issue description</a:t>
                      </a:r>
                      <a:endParaRPr lang="en-US" sz="7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DDEE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274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DQ Engine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548640" y="64008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domains · 16 rules · all soft warnings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00200"/>
            <a:ext cx="1645920" cy="3154680"/>
          </a:xfrm>
          <a:prstGeom prst="rect">
            <a:avLst/>
          </a:prstGeom>
          <a:solidFill>
            <a:srgbClr val="FFFFFF">
              <a:alpha val="10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6916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rules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57200" y="22128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30352" y="2615184"/>
            <a:ext cx="1508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leaveTypeCode ref, workerId pattern, status values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212848" y="1600200"/>
            <a:ext cx="1645920" cy="3154680"/>
          </a:xfrm>
          <a:prstGeom prst="rect">
            <a:avLst/>
          </a:prstGeom>
          <a:solidFill>
            <a:srgbClr val="FFFFFF">
              <a:alpha val="10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12848" y="16916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rules</a:t>
            </a:r>
            <a:endParaRPr lang="en-US" sz="2800" dirty="0"/>
          </a:p>
        </p:txBody>
      </p:sp>
      <p:sp>
        <p:nvSpPr>
          <p:cNvPr id="11" name="Text 9"/>
          <p:cNvSpPr/>
          <p:nvPr/>
        </p:nvSpPr>
        <p:spPr>
          <a:xfrm>
            <a:off x="2212848" y="22128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Completeness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2286000" y="2615184"/>
            <a:ext cx="1508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approverId required, comments for Pending, employeeNumber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968496" y="1600200"/>
            <a:ext cx="1645920" cy="3154680"/>
          </a:xfrm>
          <a:prstGeom prst="rect">
            <a:avLst/>
          </a:prstGeom>
          <a:solidFill>
            <a:srgbClr val="FFFFFF">
              <a:alpha val="10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68496" y="16916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rules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3968496" y="22128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041648" y="2615184"/>
            <a:ext cx="1508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totalWeeks match, quantity = working days, submittedDate order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724144" y="1600200"/>
            <a:ext cx="1645920" cy="3154680"/>
          </a:xfrm>
          <a:prstGeom prst="rect">
            <a:avLst/>
          </a:prstGeom>
          <a:solidFill>
            <a:srgbClr val="FFFFFF">
              <a:alpha val="10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724144" y="16916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rules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5724144" y="22128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Timeliness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797296" y="2615184"/>
            <a:ext cx="1508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backdated, 365-day future, submittedDate not future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7479792" y="1600200"/>
            <a:ext cx="1645920" cy="3154680"/>
          </a:xfrm>
          <a:prstGeom prst="rect">
            <a:avLst/>
          </a:prstGeom>
          <a:solidFill>
            <a:srgbClr val="FFFFFF">
              <a:alpha val="10000"/>
            </a:srgbClr>
          </a:solidFill>
          <a:ln w="381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79792" y="1691640"/>
            <a:ext cx="1645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rule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7479792" y="2212848"/>
            <a:ext cx="1645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Uniqueness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552944" y="2615184"/>
            <a:ext cx="15087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Overlapping leave dates for same worker detected via DB query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issues are soft — submission is NEVER rejected by DQ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801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DQ ENGINE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catalogue — 16 rules across 5 domains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686800" cy="3657600"/>
        </p:xfrm>
        <a:graphic>
          <a:graphicData uri="http://schemas.openxmlformats.org/drawingml/2006/table">
            <a:tbl>
              <a:tblPr/>
              <a:tblGrid>
                <a:gridCol w="822960"/>
                <a:gridCol w="1188720"/>
                <a:gridCol w="2286000"/>
                <a:gridCol w="4389120"/>
              </a:tblGrid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Code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Domain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Field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Rule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85FA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ACC-001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85FA5"/>
                          </a:solidFill>
                        </a:rPr>
                        <a:t>Accuracy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worker.workerId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</a:rPr>
                        <a:t>WorkerId must match W###### pattern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85FA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ACC-002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85FA5"/>
                          </a:solidFill>
                        </a:rPr>
                        <a:t>Accuracy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submissionId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</a:rPr>
                        <a:t>Must match LS-YYYY-NNNNNN pattern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85FA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ACC-003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85FA5"/>
                          </a:solidFill>
                        </a:rPr>
                        <a:t>Accuracy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leaveDetails[*].leaveTypeCode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</a:rPr>
                        <a:t>Must be AL / SL / CL / UL / PL / LWP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85FA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ACC-004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85FA5"/>
                          </a:solidFill>
                        </a:rPr>
                        <a:t>Accuracy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leaveDetails[*].leaveCategory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</a:rPr>
                        <a:t>Must be Paid or Unpaid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85FA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ACC-005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85FA5"/>
                          </a:solidFill>
                        </a:rPr>
                        <a:t>Accuracy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leaveDetails[*].unitOfMeasure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</a:rPr>
                        <a:t>Must be Days or Hours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185FA5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ACC-006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85FA5"/>
                          </a:solidFill>
                        </a:rPr>
                        <a:t>Accuracy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status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</a:rPr>
                        <a:t>Must be Submitted / Draft / Pending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CMP-001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7AE60"/>
                          </a:solidFill>
                        </a:rPr>
                        <a:t>Completeness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approver.approverId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</a:rPr>
                        <a:t>Required for non-Draft submissions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CMP-002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7AE60"/>
                          </a:solidFill>
                        </a:rPr>
                        <a:t>Completeness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comments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</a:rPr>
                        <a:t>Recommended for Pending status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27AE6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CMP-003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27AE60"/>
                          </a:solidFill>
                        </a:rPr>
                        <a:t>Completeness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worker.employeeNumber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</a:rPr>
                        <a:t>Must not be blank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67E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CON-001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7E22"/>
                          </a:solidFill>
                        </a:rPr>
                        <a:t>Consistency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leavePeriod.totalWeeks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</a:rPr>
                        <a:t>Must be within ±1 of calculated weeks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67E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CON-002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7E22"/>
                          </a:solidFill>
                        </a:rPr>
                        <a:t>Consistency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leaveDetails[*].quantity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</a:rPr>
                        <a:t>Sum (Days UOM) must equal totalWorkingDays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E67E2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CON-003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E67E22"/>
                          </a:solidFill>
                        </a:rPr>
                        <a:t>Consistency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submittedDate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</a:rPr>
                        <a:t>Must not be after leavePeriod.startDate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E44A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TML-001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E44AD"/>
                          </a:solidFill>
                        </a:rPr>
                        <a:t>Timeliness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leavePeriod.startDate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</a:rPr>
                        <a:t>startDate &gt; 30 days in the past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E44A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TML-002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E44AD"/>
                          </a:solidFill>
                        </a:rPr>
                        <a:t>Timeliness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leavePeriod.startDate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</a:rPr>
                        <a:t>startDate &gt; 365 days in the future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8E44A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TML-003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8E44AD"/>
                          </a:solidFill>
                        </a:rPr>
                        <a:t>Timeliness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submittedDate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</a:rPr>
                        <a:t>Must not be a future date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b="1" dirty="0">
                          <a:solidFill>
                            <a:srgbClr val="C0392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UNQ-001</a:t>
                      </a:r>
                      <a:endParaRPr lang="en-US" sz="8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C0392B"/>
                          </a:solidFill>
                        </a:rPr>
                        <a:t>Uniqueness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750" dirty="0">
                          <a:solidFill>
                            <a:srgbClr val="5A6478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leavePeriod</a:t>
                      </a:r>
                      <a:endParaRPr lang="en-US" sz="7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00" dirty="0">
                          <a:solidFill>
                            <a:srgbClr val="1E2761"/>
                          </a:solidFill>
                        </a:rPr>
                        <a:t>Overlapping leave dates for same workerId</a:t>
                      </a:r>
                      <a:endParaRPr lang="en-US" sz="8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801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API SPEC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Endpoints — POST &amp; GET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1605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416052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48640" y="1234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 /api/v1/leave-submissions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48640" y="1664208"/>
            <a:ext cx="39776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body includes: submissionId (ignored — server generates), worker, leavePeriod, leaveDetails, approver, comments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548640" y="2331720"/>
            <a:ext cx="3977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Response includes: submissionId (LS-YYYY-NNNNNN), leaveDays array, dq_issues array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548640" y="2834640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HTTP responses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3127248"/>
            <a:ext cx="411480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31272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201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005840" y="314553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</a:rPr>
              <a:t>Created — submission + day rows written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548640" y="3456432"/>
            <a:ext cx="411480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4564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400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005840" y="347472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</a:rPr>
              <a:t>Bad request — alignment check failed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548640" y="3785616"/>
            <a:ext cx="411480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37856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409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005840" y="380390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</a:rPr>
              <a:t>Conflict — concurrent race (UI retries)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548640" y="4114800"/>
            <a:ext cx="41148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4114800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422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1005840" y="4133088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</a:rPr>
              <a:t>Validation failure — Pydantic reject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548640" y="4443984"/>
            <a:ext cx="41148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48640" y="4443984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500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005840" y="4462272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</a:rPr>
              <a:t>DB error — transaction rolled back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4846320" y="1234440"/>
            <a:ext cx="4160520" cy="35661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846320" y="1234440"/>
            <a:ext cx="4160520" cy="3657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37760" y="1234440"/>
            <a:ext cx="4023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 /api/v1/leave-submissions/{id}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937760" y="166420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A6478"/>
                </a:solidFill>
              </a:rPr>
              <a:t>Path parameter: submission_id (string) — e.g. LS-2026-000007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4937760" y="208483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1E2761"/>
                </a:solidFill>
              </a:rPr>
              <a:t>Response schema: GetSubmissionResponse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4937760" y="237744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submission: </a:t>
            </a:r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 SubmissionId, WorkerId, StartDatetime, EndDatetime, TotalDays, Status, SubmittedDate }</a:t>
            </a:r>
            <a:endParaRPr lang="en-US" sz="800" dirty="0"/>
          </a:p>
        </p:txBody>
      </p:sp>
      <p:sp>
        <p:nvSpPr>
          <p:cNvPr id="32" name="Text 30"/>
          <p:cNvSpPr/>
          <p:nvPr/>
        </p:nvSpPr>
        <p:spPr>
          <a:xfrm>
            <a:off x="4937760" y="3017520"/>
            <a:ext cx="3977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leaveDays: </a:t>
            </a:r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[{ LeaveDayId, SubmissionId, WorkerId, LeaveDate, LeaveTypeCode, LeaveCategory, UnitOfMeasure, Quantity }]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4937760" y="3730752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761"/>
                </a:solidFill>
              </a:rPr>
              <a:t>HTTP responses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937760" y="4041648"/>
            <a:ext cx="411480" cy="2560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0" y="4041648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200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5394960" y="4059936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</a:rPr>
              <a:t>Found — submission + day rows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937760" y="4370832"/>
            <a:ext cx="411480" cy="256032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937760" y="4370832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404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5394960" y="4389120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</a:rPr>
              <a:t>Not found — unknown SubmissionId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937760" y="4700016"/>
            <a:ext cx="411480" cy="25603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937760" y="4700016"/>
            <a:ext cx="411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422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394960" y="4718304"/>
            <a:ext cx="34747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5A6478"/>
                </a:solidFill>
              </a:rPr>
              <a:t>Validation error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801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UI (POC)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— 4 pages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234440"/>
            <a:ext cx="41148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234440"/>
            <a:ext cx="64008" cy="17373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3075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📝  Submit Leave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94360" y="1618488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Form-based submission. SubmissionId is read-only, auto-calculated from MAX(sequence)+1. Date pickers outside st.form for live working-day recount and Quantity update.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00600" y="1234440"/>
            <a:ext cx="41148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00600" y="1234440"/>
            <a:ext cx="64008" cy="17373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0" y="130759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Leave Balance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37760" y="1618488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Worker filter, KPI cards (total days, workers, leave types), bar chart, and summary table — all sourced directly from SQLite.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41148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3108960"/>
            <a:ext cx="64008" cy="17373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1821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🗄️  Browse DB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94360" y="3493008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LeaveSubmission and LeaveDay tabs with multi-select filters. Drill-down: select a SubmissionId to see its day rows. DB stats footer.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00600" y="3108960"/>
            <a:ext cx="4114800" cy="17373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EFF"/>
            </a:solidFill>
            <a:prstDash val="solid"/>
          </a:ln>
          <a:effectLst>
            <a:outerShdw sx="100000" sy="100000" kx="0" ky="0" algn="bl" rotWithShape="0" blurRad="1016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00600" y="3108960"/>
            <a:ext cx="64008" cy="1737360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937760" y="31821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🔍  DQ Dashboard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3493008"/>
            <a:ext cx="393192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 tab: KPI cards, issues by domain &amp; code, filtered issue log with colour coding.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tab: full 16-rule catalogue with domain colours + reference value tables.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801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COMPARISON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  vs  Python + FastAPI</a:t>
            </a:r>
            <a:endParaRPr lang="en-US" sz="28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686800" cy="3703320"/>
        </p:xfrm>
        <a:graphic>
          <a:graphicData uri="http://schemas.openxmlformats.org/drawingml/2006/table">
            <a:tbl>
              <a:tblPr/>
              <a:tblGrid>
                <a:gridCol w="2743200"/>
                <a:gridCol w="2971800"/>
                <a:gridCol w="297180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Node.js + Express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39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Python + FastAPI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Input field casing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</a:rPr>
                        <a:t>UPPERCASE (deviates from spec)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28090"/>
                          </a:solidFill>
                        </a:rPr>
                        <a:t>camelCase (matches spec)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Input validation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</a:rPr>
                        <a:t>Manual if checks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28090"/>
                          </a:solidFill>
                        </a:rPr>
                        <a:t>Pydantic v2 automatic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Duplicate submission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</a:rPr>
                        <a:t>❌  Not handled → HTTP 500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28090"/>
                          </a:solidFill>
                        </a:rPr>
                        <a:t>✅  HTTP 409 Conflict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quantity sum check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</a:rPr>
                        <a:t>❌  Not implemented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28090"/>
                          </a:solidFill>
                        </a:rPr>
                        <a:t>✅  Validated vs totalWorkingDays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Multiple leaveDetails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</a:rPr>
                        <a:t>❌  Hardcoded [0] only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28090"/>
                          </a:solidFill>
                        </a:rPr>
                        <a:t>✅  Full iteration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DB insert strategy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</a:rPr>
                        <a:t>await per row  (N+1 pattern)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28090"/>
                          </a:solidFill>
                        </a:rPr>
                        <a:t>executemany batch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Index definitions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</a:rPr>
                        <a:t>❌  None in DDL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28090"/>
                          </a:solidFill>
                        </a:rPr>
                        <a:t>✅  2 indexes + UQ constraint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HTTP status granularity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</a:rPr>
                        <a:t>400 for all errors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28090"/>
                          </a:solidFill>
                        </a:rPr>
                        <a:t>400 / 409 / 422 / 500 distinct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DQ engine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</a:rPr>
                        <a:t>❌  None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28090"/>
                          </a:solidFill>
                        </a:rPr>
                        <a:t>✅  5 domains, 16 rules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1E2761"/>
                          </a:solidFill>
                        </a:rPr>
                        <a:t>Test coverage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C0392B"/>
                          </a:solidFill>
                        </a:rPr>
                        <a:t>❌  None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28090"/>
                          </a:solidFill>
                        </a:rPr>
                        <a:t>✅  Pytest, DB mocked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01168"/>
            <a:ext cx="1280160" cy="25603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201168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</a:rPr>
              <a:t>FUTURE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constraints &amp; future considerations</a:t>
            </a:r>
            <a:endParaRPr lang="en-US" sz="28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686800" cy="3566160"/>
        </p:xfrm>
        <a:graphic>
          <a:graphicData uri="http://schemas.openxmlformats.org/drawingml/2006/table">
            <a:tbl>
              <a:tblPr/>
              <a:tblGrid>
                <a:gridCol w="1920240"/>
                <a:gridCol w="3017520"/>
                <a:gridCol w="3749040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Item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Current state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Suggested next step</a:t>
                      </a:r>
                      <a:endParaRPr lang="en-US" sz="90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Public holidays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</a:rPr>
                        <a:t>Not excluded from working-day count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28090"/>
                          </a:solidFill>
                        </a:rPr>
                        <a:t>Integrate holidays library into _is_working_day()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Part-day leave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</a:rPr>
                        <a:t>Quantity fixed at 1.00 per row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28090"/>
                          </a:solidFill>
                        </a:rPr>
                        <a:t>Extend to fractional quantities (half-days)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DQ — all soft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</a:rPr>
                        <a:t>Submissions never rejected for DQ issues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28090"/>
                          </a:solidFill>
                        </a:rPr>
                        <a:t>Add Critical severity reject path when governance matures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Concurrency (SQLite)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</a:rPr>
                        <a:t>DB-level write lock serialises — OK for PoC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28090"/>
                          </a:solidFill>
                        </a:rPr>
                        <a:t>Use SQL Server SEQUENCE or NEWSEQUENTIALID() in prod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Surrogate PK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</a:rPr>
                        <a:t>SubmissionId VARCHAR(50) as spec PK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28090"/>
                          </a:solidFill>
                        </a:rPr>
                        <a:t>Add Id INT IDENTITY if high FK join volume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Worker dimension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</a:rPr>
                        <a:t>WorkerId is a bare string — no FK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28090"/>
                          </a:solidFill>
                        </a:rPr>
                        <a:t>Add dbo.Worker reference table + referential integrity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1E2761"/>
                          </a:solidFill>
                        </a:rPr>
                        <a:t>Analytical reporting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5A6478"/>
                          </a:solidFill>
                        </a:rPr>
                        <a:t>Schema is OLTP-optimised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28090"/>
                          </a:solidFill>
                        </a:rPr>
                        <a:t>Gold-layer view or Star Schema for reporting</a:t>
                      </a:r>
                      <a:endParaRPr lang="en-US" sz="850" dirty="0"/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E0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100584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Submission API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 Design Document  v1.5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160020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4688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FastAPI + Pydantic v2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267712" y="2468880"/>
            <a:ext cx="1600200" cy="347472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267712" y="24688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SQLite PoC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986784" y="2468880"/>
            <a:ext cx="1600200" cy="347472"/>
          </a:xfrm>
          <a:prstGeom prst="rect">
            <a:avLst/>
          </a:prstGeom>
          <a:solidFill>
            <a:srgbClr val="8E44AD"/>
          </a:solidFill>
          <a:ln w="12700">
            <a:solidFill>
              <a:srgbClr val="8E44A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986784" y="24688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DQ Engine — 16 rules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5705856" y="2468880"/>
            <a:ext cx="1600200" cy="34747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705856" y="24688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Streamlit UI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7424928" y="2468880"/>
            <a:ext cx="160020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24928" y="2468880"/>
            <a:ext cx="1600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Atomic SubmissionId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548640" y="4663440"/>
            <a:ext cx="8046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CADCFC"/>
                </a:solidFill>
              </a:rPr>
              <a:t>github.com / bdaxai  ·  PowerHouse PoC  ·  David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Leave Submission API — SDD</dc:title>
  <dc:subject>PptxGenJS Presentation</dc:subject>
  <dc:creator>David</dc:creator>
  <cp:lastModifiedBy>David</cp:lastModifiedBy>
  <cp:revision>1</cp:revision>
  <dcterms:created xsi:type="dcterms:W3CDTF">2026-03-27T12:59:27Z</dcterms:created>
  <dcterms:modified xsi:type="dcterms:W3CDTF">2026-03-27T12:59:27Z</dcterms:modified>
</cp:coreProperties>
</file>